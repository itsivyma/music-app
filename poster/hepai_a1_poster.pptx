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12a1e7387145e9" /><Relationship Type="http://schemas.openxmlformats.org/officeDocument/2006/relationships/extended-properties" Target="/docProps/app.xml" Id="R1a7ef2ec27ef434d" /><Relationship Type="http://schemas.openxmlformats.org/officeDocument/2006/relationships/officeDocument" Target="/ppt/presentation.xml" Id="R0ee1f2db843848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4e0e50af224b7e"/>
  </p:sldMasterIdLst>
  <p:notesMasterIdLst>
    <p:notesMasterId xmlns:r="http://schemas.openxmlformats.org/officeDocument/2006/relationships" r:id="Re871047c5b094a71"/>
  </p:notesMasterIdLst>
  <p:sldIdLst>
    <p:sldId xmlns:r="http://schemas.openxmlformats.org/officeDocument/2006/relationships" id="256" r:id="R6edb626bc7a940b7"/>
  </p:sldIdLst>
  <p:sldSz cx="13373100" cy="189166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4e0e50af224b7e" /><Relationship Type="http://schemas.openxmlformats.org/officeDocument/2006/relationships/theme" Target="/ppt/theme/theme1.xml" Id="R2570df111d974580" /><Relationship Type="http://schemas.openxmlformats.org/officeDocument/2006/relationships/notesMaster" Target="/ppt/notesMasters/notesMaster1.xml" Id="Re871047c5b094a71" /><Relationship Type="http://schemas.openxmlformats.org/officeDocument/2006/relationships/presProps" Target="/ppt/presProps.xml" Id="Rabdccad4d0cd494d" /><Relationship Type="http://schemas.openxmlformats.org/officeDocument/2006/relationships/viewProps" Target="/ppt/viewProps.xml" Id="Rb2064974b4364f0e" /><Relationship Type="http://schemas.openxmlformats.org/officeDocument/2006/relationships/tableStyles" Target="/ppt/tableStyles.xml" Id="R9e8a7324efa14ab2" /><Relationship Type="http://schemas.openxmlformats.org/officeDocument/2006/relationships/slide" Target="/ppt/slides/slide1.xml" Id="R6edb626bc7a940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97beb0c841842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9823d6425b4f48" /><Relationship Type="http://schemas.openxmlformats.org/officeDocument/2006/relationships/notesMaster" Target="/ppt/notesMasters/notesMaster1.xml" Id="Recf8f753aec44d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623fe7266c40f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e2c8cfa034149d7" /><Relationship Type="http://schemas.openxmlformats.org/officeDocument/2006/relationships/slideLayout" Target="/ppt/slideLayouts/slideLayout2.xml" Id="R04fd85d5e83144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fd85d5e83144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43be3bd3834c36" /><Relationship Type="http://schemas.openxmlformats.org/officeDocument/2006/relationships/image" Target="/ppt/media/image.png" Id="Rbc316419e7414246" /><Relationship Type="http://schemas.openxmlformats.org/officeDocument/2006/relationships/image" Target="/ppt/media/image2.png" Id="R1f348fd0d7b347e9" /><Relationship Type="http://schemas.openxmlformats.org/officeDocument/2006/relationships/image" Target="/ppt/media/image3.png" Id="R92b969e74e1c4a99" /><Relationship Type="http://schemas.openxmlformats.org/officeDocument/2006/relationships/notesSlide" Target="/ppt/notesSlides/notesSlide1.xml" Id="Redb92c2689d644c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2CCE01-6B87-428D-A74F-D782113E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73100" cy="1891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EC639-C25A-4FFC-A24D-9AA1ABAD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9600"/>
            <a:ext cx="1089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An Automatic Four-Part Harmony Grading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138A9-F076-4EA8-BF3D-10B8ECBF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28700"/>
            <a:ext cx="10134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Integrating Deep Learning-Based Optical Music Recognition and Rule-Based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91A628-0F6B-4CF5-98A7-6E84F110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62075"/>
            <a:ext cx="1337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MA, SIAO-SHIH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06F1A-38E4-460F-A060-6F50AAA8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19250"/>
            <a:ext cx="1337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Advisor: Ming-Hsueh Lin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4BE01-BC97-477D-9D2D-849C24D7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38325"/>
            <a:ext cx="1337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Arete Honors Program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0C7D6-2C06-4652-BE83-44D25E27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1337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National Yang Ming Chiao Tung University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BE0C7-902D-4411-BC05-A0105681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1188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3F352-ED16-448B-B59B-E646E61C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5724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2752C3-2379-45DA-ADBE-82F5333C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5724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Abstract &amp; Motivation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34AC5B-72EF-49B4-97CF-E22344FB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57245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Four-part harmony is a fundamental component of music theory education. Students must simultaneously consider voice leading, chord spacing, doubling, leading-tone resolution, cadence structure, and other harmonic constraints. Traditional grading depends heavily on expert teachers and often requires substantial time for manual correction.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3B9A54-9DF2-49F0-ADD7-DA1A091D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57245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Although OMR systems can recognize notation from score images, most existing systems focus on symbol detection or transcription rather than harmony-specific analysis and explainable learning feedback.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1BBA8-C6A3-4F35-ADBC-86F723D7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5724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0D996C-A604-4D89-911B-AA14D3A7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5724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9B9F6A-1EB0-41FF-8660-DB65D7B3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Key Problem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56928D-2DE6-46E5-A24B-D500518B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54959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How can a system convert a score image into localized and explainable four-part harmony feedback?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8772D1-ABCA-44C0-9F28-F8025F38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5724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3C0CD2-BE8F-42D0-A0A0-8B098BDC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9775"/>
            <a:ext cx="5724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Objectives &amp; Contributions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34C95C-59FF-42A8-A467-66477A33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67450"/>
            <a:ext cx="5724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This study aims to design an automatic four-part harmony grading system that integrates deep learning-based OMR with rule-based harmony analysis.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B3044C-4123-4326-8454-EA9AC25A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818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Objectives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2035A7-4EEC-4115-A480-D1E52A59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67818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Contributions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578B52-506A-44C3-95EB-3FEC0CED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675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A29EF6-D06E-4021-82E5-014280257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67550"/>
            <a:ext cx="2519363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Detect music notation symbols using a YOLO-based OMR model.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DCFCC4-0FBE-453C-BB90-A428C37C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3437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818AE3-05F5-4DF0-8784-D8B3143F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43775"/>
            <a:ext cx="2519363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Convert detected symbols into four-part harmony snapshots.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063351-E365-4891-98F1-250977F3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200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DBB12F-A354-4A12-84E4-B5387967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20000"/>
            <a:ext cx="2519363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Analyze common harmony errors through a rule engine.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766E27-69DA-42C4-B021-FA584AF1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962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69F032-3146-4045-8ED9-3FCC7199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96225"/>
            <a:ext cx="2519363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Present localized errors with explanations and suggestions.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BFEF99-DB6D-4CD9-A783-82D53FA3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70675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30A7D5-97C2-4295-B171-1CE70A56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663" y="7067550"/>
            <a:ext cx="2690813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A system architecture connecting recognition and rule analysis.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2C2BF0-1C0D-459B-A545-89623795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73437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0F1E9B-14EC-4E15-9B44-C0C25B88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663" y="7343775"/>
            <a:ext cx="2690813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A structured representation for four-part harmony snapshots.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614E4A-108A-483C-A79A-23BC308E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76200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91A539-EAF0-498F-A3CE-7AD02DC7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663" y="7620000"/>
            <a:ext cx="2690813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A rule-based engine for representative harmony errors.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4224D2-28B9-4A61-8057-C52744A4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78962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941B14-E955-40B4-A71F-158152D7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663" y="7896225"/>
            <a:ext cx="2690813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A web-based prototype demonstrating the grading workflow.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22D433-4ACB-4A10-A0F4-65738187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5724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CB138C-E9A3-468E-999F-9860AEED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86775"/>
            <a:ext cx="5724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System Design &amp; Pipeline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4E2949-3430-4F59-9F5B-742C57DB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90106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Score Image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80C0B4-C94E-4FC7-B38A-68B5B896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9677400"/>
            <a:ext cx="990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B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D2586A-42E7-40F2-9327-A729B1EE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977265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Image</a:t>
            </a:r>
          </a:p>
          <a:p xmlns:a="http://schemas.openxmlformats.org/drawingml/2006/main">
            <a:pPr algn="ctr">
              <a:defRPr sz="8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Preprocessing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847F29-AF44-4137-88CF-AE678D81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99250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66FF1AA-F6C4-4E6F-B5A3-07307D5F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9677400"/>
            <a:ext cx="990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B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9AAD951-B4E3-4C4E-B0DA-31DFC464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977265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YOLO Symbol</a:t>
            </a:r>
          </a:p>
          <a:p xmlns:a="http://schemas.openxmlformats.org/drawingml/2006/main">
            <a:pPr algn="ctr">
              <a:defRPr sz="8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Detection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8F317B-D6A8-40B7-B14C-FB1ABA6E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9250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0CDCB5-7205-4B26-AF5C-5A73A21B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9677400"/>
            <a:ext cx="990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B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5472D9-9EB6-4311-B655-F2A0A2A0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977265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Symbol-to-Voice</a:t>
            </a:r>
          </a:p>
          <a:p xmlns:a="http://schemas.openxmlformats.org/drawingml/2006/main">
            <a:pPr algn="ctr">
              <a:defRPr sz="8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Assembly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8ECB4A-9D5D-406D-87C1-EE18E429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99250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49E0F64-6E71-4811-B456-6158F447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9677400"/>
            <a:ext cx="990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B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4C12B20-DF99-4962-9D42-56ADB8B8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9772650"/>
            <a:ext cx="91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Harmony Rule</a:t>
            </a:r>
          </a:p>
          <a:p xmlns:a="http://schemas.openxmlformats.org/drawingml/2006/main">
            <a:pPr algn="ctr">
              <a:defRPr sz="8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Engine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6C84B85-2608-499E-9F68-528D5DDD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0458450"/>
            <a:ext cx="990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B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108B035-5EFF-4810-AB59-857F5C17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057275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Localized</a:t>
            </a:r>
          </a:p>
          <a:p xmlns:a="http://schemas.openxmlformats.org/drawingml/2006/main">
            <a:pPr algn="ctr">
              <a:defRPr sz="8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Feedback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3EE1781-04BA-46CD-BBEC-3C9759C5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106150"/>
            <a:ext cx="5724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Figure 1: Overall workflow of the proposed four-part harmony grading system.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A258A26-BFB3-4629-A84B-F7371A14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449050"/>
            <a:ext cx="57245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The architecture separates visual recognition from musical reasoning, allowing the OMR model and the harmony rule engine to be improved independently.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CA4FD14-C095-4136-8CE1-0D0B9695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249150"/>
            <a:ext cx="5724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D7A6DE5-B15F-4C56-9AD4-81A23B7B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296775"/>
            <a:ext cx="5724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Rule-Based Harmony Analysis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F08C142-778B-497B-9A3E-6E085548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744450"/>
            <a:ext cx="5724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The rule engine receives chord snapshots containing pitch, measure, beat, and voice assignment of Soprano, Alto, Tenor, and Bass parts.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EA7F6D5-05F1-415C-AA1A-9F7B2B0C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3201650"/>
            <a:ext cx="47720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A7A6817-3789-4513-98AA-8D2E0832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315950"/>
            <a:ext cx="34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ID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5869DFD-AB86-422E-B254-902FA860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33159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Rule Type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02FA879-121E-478E-8BE6-9E9BFD78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3315950"/>
            <a:ext cx="276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Description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7C0B32C-A42A-437F-8F9E-BD8549FA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3506450"/>
            <a:ext cx="47720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D4670B6-7CE3-4057-9FB4-ADB59945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58265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M1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112B984-7B90-47F8-AA53-D4C8DDC7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35826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Melodic leap constraints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962BCAC-4D4C-40BD-BF51-24D64343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35826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Detects excessive leaps and unstable intervals.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06A8F6E-EEB9-4746-BE29-EF2BA6D4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3839825"/>
            <a:ext cx="47720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BFDFE49-69AE-4579-AC24-9F8DA756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9160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V1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BBB85EE-1364-4555-8931-80DC2A9F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39160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Voice crossing / overlap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37D82E9-6EAE-4973-97F6-8F3AE30E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391602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Checks whether adjacent voices cross or overlap.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6047966-EC28-48C9-B845-94D36522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173200"/>
            <a:ext cx="47720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CF1D62D-0AEE-4935-8298-16C8521F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2494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P1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365F4E1-5180-412C-9974-FE501623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42494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Parallel fifths / octaves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C20861C-FAF0-47BC-BD39-CA682ECF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2494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Detects parallel perfect intervals between voices.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84CC1F5-641C-43A7-849D-991DCAF4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506575"/>
            <a:ext cx="47720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A9E5616-B1B7-4625-ABE7-9E4D72E6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58277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P2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87053FF-EC5A-4EF5-8258-A0F27D82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458277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Hidden fifths / octaves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806DDDC-C42A-4443-BED6-8FA403B8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5827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Checks direct motion into perfect intervals.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0F1EA88-97E1-42E8-95D3-289E47C2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39950"/>
            <a:ext cx="47720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61D5883-1E0B-410D-AAA8-15B6CFB2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91615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D1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6544695-9D23-403A-8CDD-6EE907FF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49161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Triad doubling / omission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FC242AA-B602-4AFC-8CBD-623BDC22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9161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Verifies root, third, fifth, and leading-tone treatment.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D16D6E4-E4C2-4168-925F-637B50F3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173325"/>
            <a:ext cx="47720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D1DB30E-4D83-4C06-B9FF-76C30817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249525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L1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CE4E22E-F5E7-49A3-8802-19829022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52495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Leading-tone resolution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31C13F9-9C95-4782-A33E-AB88DF79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24952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Checks whether leading tones resolve properly.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2D62AD2-F119-402D-94AB-FCB70D38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25775"/>
            <a:ext cx="5724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Table 1: Representative harmony rules implemented in the rule engine.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A26980B-35D4-4038-BE7B-28EE9B01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43250"/>
            <a:ext cx="5724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E65FA51-0FD2-4411-BD2A-9BF40112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90875"/>
            <a:ext cx="5724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Prototype Demonstration</a:t>
            </a:r>
          </a:p>
        </p:txBody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16419e7414246"/>
          <a:stretch xmlns:a="http://schemas.openxmlformats.org/drawingml/2006/main"/>
        </p:blipFill>
        <p:spPr>
          <a:xfrm xmlns:a="http://schemas.openxmlformats.org/drawingml/2006/main">
            <a:off x="7129383" y="3714750"/>
            <a:ext cx="1346359" cy="2095500"/>
          </a:xfrm>
          <a:prstGeom xmlns:a="http://schemas.openxmlformats.org/drawingml/2006/main" prst="rect">
            <a:avLst/>
          </a:prstGeom>
        </p:spPr>
      </p:pic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AD60EB3-0A93-4847-939F-F94F7142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86450"/>
            <a:ext cx="1793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(a) Score capture</a:t>
            </a:r>
          </a:p>
          <a:p xmlns:a="http://schemas.openxmlformats.org/drawingml/2006/main">
            <a:pPr algn="ctr">
              <a:defRPr sz="7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and alignment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348fd0d7b347e9"/>
          <a:stretch xmlns:a="http://schemas.openxmlformats.org/drawingml/2006/main"/>
        </p:blipFill>
        <p:spPr>
          <a:xfrm xmlns:a="http://schemas.openxmlformats.org/drawingml/2006/main">
            <a:off x="8870950" y="3732423"/>
            <a:ext cx="1793875" cy="2060153"/>
          </a:xfrm>
          <a:prstGeom xmlns:a="http://schemas.openxmlformats.org/drawingml/2006/main" prst="rect">
            <a:avLst/>
          </a:prstGeom>
        </p:spPr>
      </p:pic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9AC4D84-206E-48C3-8384-B305319D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0950" y="5886450"/>
            <a:ext cx="1793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(b) Recognition review</a:t>
            </a:r>
          </a:p>
          <a:p xmlns:a="http://schemas.openxmlformats.org/drawingml/2006/main">
            <a:pPr algn="ctr">
              <a:defRPr sz="7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and error localization</a:t>
            </a:r>
          </a:p>
        </p:txBody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b969e74e1c4a99"/>
          <a:stretch xmlns:a="http://schemas.openxmlformats.org/drawingml/2006/main"/>
        </p:blipFill>
        <p:spPr>
          <a:xfrm xmlns:a="http://schemas.openxmlformats.org/drawingml/2006/main">
            <a:off x="10836275" y="3758701"/>
            <a:ext cx="1793875" cy="2007598"/>
          </a:xfrm>
          <a:prstGeom xmlns:a="http://schemas.openxmlformats.org/drawingml/2006/main" prst="rect">
            <a:avLst/>
          </a:prstGeom>
        </p:spPr>
      </p:pic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F2699A1-4013-4583-97B8-5E7FB0EB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6275" y="5886450"/>
            <a:ext cx="1793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(c) Rule explanation</a:t>
            </a:r>
          </a:p>
          <a:p xmlns:a="http://schemas.openxmlformats.org/drawingml/2006/main">
            <a:pPr algn="ctr">
              <a:defRPr sz="7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and feedback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59F109F-872A-4710-A461-B8C46D06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6324600"/>
            <a:ext cx="5724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Figure 2: Prototype screens showing score capture, recognition review, localized error selection, and rule-based correction feedback.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C92713F-D6B8-4695-A6E2-5C86D4C7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6686550"/>
            <a:ext cx="5724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The web-based prototype demonstrates score input, recognition progress, error localization, rule explanation, and correction guidance.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7FA3DAB-BC28-4147-B3FF-1FF5BF2A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7715250"/>
            <a:ext cx="5724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C0600F7-C38E-4C57-8F66-DB9F63EE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7762875"/>
            <a:ext cx="5724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OMR Model Performance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7F997A6-D746-4A6C-83CF-9F91946B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8248650"/>
            <a:ext cx="5724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The current best OMR model is based on YOLO12s Ultimate v5 Stable and is evaluated on a cleaned validation set.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54ED24B-7CC8-42F0-9998-24112454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8839200"/>
            <a:ext cx="1028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41ED3F1-B922-4A67-B1E6-E25D8256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893445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474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>
                <a:solidFill>
                  <a:srgbClr val="64748B"/>
                </a:solidFill>
                <a:latin typeface="Times New Roman"/>
                <a:ea typeface="Times New Roman"/>
                <a:cs typeface="Times New Roman"/>
              </a:rPr>
              <a:t>mAP50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5D511D8-1427-4849-BF81-B4998B42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916305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rPr>
              <a:t>0.7763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F2D24F2-0A6F-4FE7-9CFE-9AFA7A52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8839200"/>
            <a:ext cx="1028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46ED692-48E1-4268-9782-ABF95FBB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893445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474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>
                <a:solidFill>
                  <a:srgbClr val="64748B"/>
                </a:solidFill>
                <a:latin typeface="Times New Roman"/>
                <a:ea typeface="Times New Roman"/>
                <a:cs typeface="Times New Roman"/>
              </a:rPr>
              <a:t>mAP50–95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84113E8-C580-43DD-A586-91A8F36C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916305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rPr>
              <a:t>0.7320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40D96BB-6486-4A94-9DE9-5EFD157F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8839200"/>
            <a:ext cx="1028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B5A2439-EEE8-47AD-B5A8-8638C343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893445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474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>
                <a:solidFill>
                  <a:srgbClr val="64748B"/>
                </a:solidFill>
                <a:latin typeface="Times New Roman"/>
                <a:ea typeface="Times New Roman"/>
                <a:cs typeface="Times New Roman"/>
              </a:rPr>
              <a:t>Precision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4423B28-CEFE-4EB0-8BEB-C83FB18E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916305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rPr>
              <a:t>0.957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BAB64C2-B8C1-41DD-9840-623F27CF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8839200"/>
            <a:ext cx="10287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25A9E2B-D5EA-4A97-9A05-66ADBDE4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893445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474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>
                <a:solidFill>
                  <a:srgbClr val="64748B"/>
                </a:solidFill>
                <a:latin typeface="Times New Roman"/>
                <a:ea typeface="Times New Roman"/>
                <a:cs typeface="Times New Roman"/>
              </a:rPr>
              <a:t>Recall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0E09224-1BFB-44CA-A51E-BC191727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9163050"/>
            <a:ext cx="1028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4A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D94A4A"/>
                </a:solidFill>
                <a:latin typeface="Times New Roman"/>
                <a:ea typeface="Times New Roman"/>
                <a:cs typeface="Times New Roman"/>
              </a:rPr>
              <a:t>0.576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6CD60A6-DB90-4B20-AD7A-B646FF5E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9791700"/>
            <a:ext cx="57245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Observation. High precision indicates reliable detections, while recall improvement remains the main training target, especially for small or rare notation symbols.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1E1F525-27EF-4BBF-9F39-EF6086D5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0706100"/>
            <a:ext cx="5724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800191F-B526-4D3A-B6B1-D18B6A0F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0753725"/>
            <a:ext cx="5724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Discussion &amp; Limitations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27B21CB-C2C0-49D3-BAC9-613B1E86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12204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Current strengths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746A915-3CB5-48A5-8CE9-5EC2C532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88" y="112204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Current limitations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FDF8601-476C-4CBC-B30F-9811276E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15252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0D76C93-59F3-49D7-A124-4513BAF5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1525250"/>
            <a:ext cx="2519363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Promising detection precision for music symbols.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5F8B651-007C-47F6-9D99-C9641DBD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18110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B84016F-B2F6-4C2E-9123-E9E28ABD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1811000"/>
            <a:ext cx="2519363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Explainable analysis rather than only binary grading.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8EDAFD8-13A2-434B-BC0F-5F63D216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20967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A9EE49B-72E4-4025-B595-E01FAA76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2096750"/>
            <a:ext cx="2519363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Interface makes error locations and rule explanations visible.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11995E6-676A-4897-ABF7-6472A87A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23825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DB664E6-38CA-4D24-858E-93645B90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2382500"/>
            <a:ext cx="2519363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Modular design allows independent improvement.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6F523B0-AAA2-4D97-B371-CAA8F8B4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88" y="115252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55F23FC-53B5-43EB-81DE-6AE56FE5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338" y="11525250"/>
            <a:ext cx="2690813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Recall remains the main bottleneck of the OMR model.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7D5444F-B6C6-4C1A-A275-A5D378EA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88" y="118110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2A31423-33FA-4422-B53F-2F358625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338" y="11811000"/>
            <a:ext cx="2690813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Symbol-to-voice assembly requires further improvement.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5061D89-D65A-4DEC-8EFF-D03685ED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88" y="120967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AFE26C8-A7FF-49EA-9844-57D9736E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338" y="12096750"/>
            <a:ext cx="2690813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Current rule set focuses on representative harmony errors.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A35A471-F04D-4E6D-8DFE-ACA2C493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88" y="123825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0DC67A7-91AD-4DC5-B826-8D20543D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338" y="12382500"/>
            <a:ext cx="2690813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Advanced harmony phenomena require future expansion.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FFE4379-2B40-4A99-BB5B-B0C0ED8A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2934950"/>
            <a:ext cx="5724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F5E670E-56E3-4B05-8085-CE5F45A3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2982575"/>
            <a:ext cx="5724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Conclusion &amp; Future Work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74A1F1EE-4BB4-4540-8F79-31278C4D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3430250"/>
            <a:ext cx="5724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This study presents an automatic four-part harmony grading system integrating deep learning-based OMR and rule-based harmony analysis. The system detects music notation symbols from score images, converts them into structured harmony representations, and provides localized, explainable feedback.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25674DF4-9635-490F-8CCA-69850B9E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42684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Future work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E1137E6-C051-4B2F-8943-BC513474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88" y="142684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Key takeaway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30008DB5-9D66-4590-A575-EEFFB086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45732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D026AE9-7E62-4BD5-9555-3527FF30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4573250"/>
            <a:ext cx="2500313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Improve recall for small and rare notation symbols.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106C2C51-DF34-4C94-AB8D-EB8BA735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48780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C12C8DCF-A71F-493F-B369-E86BEA8E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4878050"/>
            <a:ext cx="2500313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Strengthen conversion from OMR detections to four-voice structures.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C8986EA-434B-4581-8347-4730E6CD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51828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CCBB0DBE-4EC3-4E9C-8A80-62F72A8A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5182850"/>
            <a:ext cx="2500313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Expand the rule set to include non-chord tones and cadence-specific cases.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01367C3-8AD4-44DC-8B92-D9E4BAF0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54876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0B3A5B"/>
                </a:solidFill>
                <a:latin typeface="Times New Roman"/>
                <a:ea typeface="Times New Roman"/>
                <a:cs typeface="Times New Roman"/>
              </a:rPr>
              <a:t>•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24323EB9-3D73-4D14-A8D5-B4D0B2DE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5487650"/>
            <a:ext cx="2500313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Deploy the system to a mobile application for classroom use.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52B91E1E-8810-4EB7-A70A-11C79130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88" y="14573250"/>
            <a:ext cx="2767013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F"/>
          </a:solidFill>
          <a:ln xmlns:a="http://schemas.openxmlformats.org/drawingml/2006/main" w="9525">
            <a:solidFill>
              <a:srgbClr val="D6DEE5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95176C2E-A6BF-4EF4-8901-B572CDA0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2188" y="14725650"/>
            <a:ext cx="2538413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The system does not search for a single correct answer; it detects violations of harmony rules and provides explainable learning feedback.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0702E993-91A0-495B-B07B-16F0B929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5963900"/>
            <a:ext cx="5724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E9D7A495-DAE4-48E1-B5AC-3ED03835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011525"/>
            <a:ext cx="5724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References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E4F3D1B6-51B5-4C06-81D4-2B0BA722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440150"/>
            <a:ext cx="57245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[1] Edward Aldwell, Carl Schachter, and Allen Cadwallader. Harmony and Voice Leading. Schirmer, 2010.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[2] Ana Rebelo et al. Optical music recognition: state-of-the-art and open issues. International Journal of Multimedia Information Retrieval, 2012.</a:t>
            </a:r>
          </a:p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>
                <a:solidFill>
                  <a:srgbClr val="111827"/>
                </a:solidFill>
                <a:latin typeface="Times New Roman"/>
                <a:ea typeface="Times New Roman"/>
                <a:cs typeface="Times New Roman"/>
              </a:rPr>
              <a:t>[3] Joseph Redmon et al. You Only Look Once: Unified, Real-Time Object Detection. CVPR, 2016.</a:t>
            </a:r>
          </a:p>
        </p:txBody>
      </p:sp>
    </p:spTree>
    <p:extLst>
      <p:ext uri="{BB962C8B-B14F-4D97-AF65-F5344CB8AC3E}">
        <p14:creationId xmlns:p14="http://schemas.microsoft.com/office/powerpoint/2010/main" val="9692490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2026-06-07T22:37:19.6040000Z</dcterms:created>
  <dcterms:modified xsi:type="dcterms:W3CDTF">2026-06-07T22:37:19.6040000Z</dcterms:modified>
</coreProperties>
</file>